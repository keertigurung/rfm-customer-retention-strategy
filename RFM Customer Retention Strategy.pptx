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5F5F5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i Gurung" userId="e2354b7e34d2f498" providerId="LiveId" clId="{74221AE2-D3BD-48A1-94DB-7C5227503B72}"/>
    <pc:docChg chg="undo redo custSel addSld delSld modSld modMainMaster">
      <pc:chgData name="Keerti Gurung" userId="e2354b7e34d2f498" providerId="LiveId" clId="{74221AE2-D3BD-48A1-94DB-7C5227503B72}" dt="2026-09-14T16:07:23.365" v="347"/>
      <pc:docMkLst>
        <pc:docMk/>
      </pc:docMkLst>
      <pc:sldChg chg="modSp del mod setBg">
        <pc:chgData name="Keerti Gurung" userId="e2354b7e34d2f498" providerId="LiveId" clId="{74221AE2-D3BD-48A1-94DB-7C5227503B72}" dt="2026-09-14T15:40:16.105" v="245" actId="2696"/>
        <pc:sldMkLst>
          <pc:docMk/>
          <pc:sldMk cId="3559469298" sldId="256"/>
        </pc:sldMkLst>
        <pc:spChg chg="mod">
          <ac:chgData name="Keerti Gurung" userId="e2354b7e34d2f498" providerId="LiveId" clId="{74221AE2-D3BD-48A1-94DB-7C5227503B72}" dt="2026-09-14T15:37:38.054" v="173" actId="122"/>
          <ac:spMkLst>
            <pc:docMk/>
            <pc:sldMk cId="3559469298" sldId="256"/>
            <ac:spMk id="2" creationId="{86EEAD56-724D-4343-9731-0213EFFB732D}"/>
          </ac:spMkLst>
        </pc:spChg>
        <pc:spChg chg="mod">
          <ac:chgData name="Keerti Gurung" userId="e2354b7e34d2f498" providerId="LiveId" clId="{74221AE2-D3BD-48A1-94DB-7C5227503B72}" dt="2026-09-14T15:37:43.774" v="174" actId="14100"/>
          <ac:spMkLst>
            <pc:docMk/>
            <pc:sldMk cId="3559469298" sldId="256"/>
            <ac:spMk id="3" creationId="{C9348AF6-62FA-465F-867C-175D87F3A58C}"/>
          </ac:spMkLst>
        </pc:spChg>
      </pc:sldChg>
      <pc:sldChg chg="modSp mod">
        <pc:chgData name="Keerti Gurung" userId="e2354b7e34d2f498" providerId="LiveId" clId="{74221AE2-D3BD-48A1-94DB-7C5227503B72}" dt="2026-09-14T15:43:05.344" v="335" actId="20577"/>
        <pc:sldMkLst>
          <pc:docMk/>
          <pc:sldMk cId="1792977364" sldId="258"/>
        </pc:sldMkLst>
        <pc:spChg chg="mod">
          <ac:chgData name="Keerti Gurung" userId="e2354b7e34d2f498" providerId="LiveId" clId="{74221AE2-D3BD-48A1-94DB-7C5227503B72}" dt="2026-09-14T15:43:05.344" v="335" actId="20577"/>
          <ac:spMkLst>
            <pc:docMk/>
            <pc:sldMk cId="1792977364" sldId="258"/>
            <ac:spMk id="3" creationId="{A33BFFDC-D80E-4CDC-8D3F-420BD550B134}"/>
          </ac:spMkLst>
        </pc:spChg>
      </pc:sldChg>
      <pc:sldChg chg="modSp mod">
        <pc:chgData name="Keerti Gurung" userId="e2354b7e34d2f498" providerId="LiveId" clId="{74221AE2-D3BD-48A1-94DB-7C5227503B72}" dt="2026-09-14T15:25:02.055" v="100" actId="255"/>
        <pc:sldMkLst>
          <pc:docMk/>
          <pc:sldMk cId="1604413093" sldId="259"/>
        </pc:sldMkLst>
        <pc:spChg chg="mod">
          <ac:chgData name="Keerti Gurung" userId="e2354b7e34d2f498" providerId="LiveId" clId="{74221AE2-D3BD-48A1-94DB-7C5227503B72}" dt="2026-09-14T15:25:02.055" v="100" actId="255"/>
          <ac:spMkLst>
            <pc:docMk/>
            <pc:sldMk cId="1604413093" sldId="259"/>
            <ac:spMk id="3" creationId="{D56985CE-5FB7-4058-96AF-2D749EF85072}"/>
          </ac:spMkLst>
        </pc:spChg>
      </pc:sldChg>
      <pc:sldChg chg="modSp mod setBg">
        <pc:chgData name="Keerti Gurung" userId="e2354b7e34d2f498" providerId="LiveId" clId="{74221AE2-D3BD-48A1-94DB-7C5227503B72}" dt="2026-09-14T15:43:56.014" v="337" actId="1076"/>
        <pc:sldMkLst>
          <pc:docMk/>
          <pc:sldMk cId="980484903" sldId="260"/>
        </pc:sldMkLst>
        <pc:spChg chg="mod">
          <ac:chgData name="Keerti Gurung" userId="e2354b7e34d2f498" providerId="LiveId" clId="{74221AE2-D3BD-48A1-94DB-7C5227503B72}" dt="2026-09-14T15:43:50.314" v="336" actId="1076"/>
          <ac:spMkLst>
            <pc:docMk/>
            <pc:sldMk cId="980484903" sldId="260"/>
            <ac:spMk id="4" creationId="{DA1004D7-2240-4CA0-90D3-2CD660CD385F}"/>
          </ac:spMkLst>
        </pc:spChg>
        <pc:spChg chg="mod">
          <ac:chgData name="Keerti Gurung" userId="e2354b7e34d2f498" providerId="LiveId" clId="{74221AE2-D3BD-48A1-94DB-7C5227503B72}" dt="2026-09-14T15:43:56.014" v="337" actId="1076"/>
          <ac:spMkLst>
            <pc:docMk/>
            <pc:sldMk cId="980484903" sldId="260"/>
            <ac:spMk id="12" creationId="{8B12F88E-F6A3-4DA8-BB06-6B69610E74C4}"/>
          </ac:spMkLst>
        </pc:spChg>
        <pc:picChg chg="mod">
          <ac:chgData name="Keerti Gurung" userId="e2354b7e34d2f498" providerId="LiveId" clId="{74221AE2-D3BD-48A1-94DB-7C5227503B72}" dt="2026-09-14T15:24:08.004" v="97" actId="14100"/>
          <ac:picMkLst>
            <pc:docMk/>
            <pc:sldMk cId="980484903" sldId="260"/>
            <ac:picMk id="15" creationId="{7FD5EAE7-07DC-4B67-8587-9FCDD0003C9C}"/>
          </ac:picMkLst>
        </pc:picChg>
      </pc:sldChg>
      <pc:sldChg chg="modSp mod">
        <pc:chgData name="Keerti Gurung" userId="e2354b7e34d2f498" providerId="LiveId" clId="{74221AE2-D3BD-48A1-94DB-7C5227503B72}" dt="2026-09-14T15:44:09.194" v="339" actId="1076"/>
        <pc:sldMkLst>
          <pc:docMk/>
          <pc:sldMk cId="3018188540" sldId="261"/>
        </pc:sldMkLst>
        <pc:spChg chg="mod">
          <ac:chgData name="Keerti Gurung" userId="e2354b7e34d2f498" providerId="LiveId" clId="{74221AE2-D3BD-48A1-94DB-7C5227503B72}" dt="2026-09-14T15:44:04.204" v="338" actId="1076"/>
          <ac:spMkLst>
            <pc:docMk/>
            <pc:sldMk cId="3018188540" sldId="261"/>
            <ac:spMk id="2" creationId="{9D298769-CF44-4832-8B2F-8BCD72F4B9F9}"/>
          </ac:spMkLst>
        </pc:spChg>
        <pc:spChg chg="mod">
          <ac:chgData name="Keerti Gurung" userId="e2354b7e34d2f498" providerId="LiveId" clId="{74221AE2-D3BD-48A1-94DB-7C5227503B72}" dt="2026-09-14T15:44:09.194" v="339" actId="1076"/>
          <ac:spMkLst>
            <pc:docMk/>
            <pc:sldMk cId="3018188540" sldId="261"/>
            <ac:spMk id="4" creationId="{6291DE08-47BD-4A66-A4D4-9FEE69B45CC0}"/>
          </ac:spMkLst>
        </pc:spChg>
        <pc:picChg chg="mod">
          <ac:chgData name="Keerti Gurung" userId="e2354b7e34d2f498" providerId="LiveId" clId="{74221AE2-D3BD-48A1-94DB-7C5227503B72}" dt="2026-09-14T15:26:28.494" v="162" actId="14100"/>
          <ac:picMkLst>
            <pc:docMk/>
            <pc:sldMk cId="3018188540" sldId="261"/>
            <ac:picMk id="6" creationId="{F5B8040E-EF8A-47C0-AD9E-F54F47DF67DB}"/>
          </ac:picMkLst>
        </pc:picChg>
      </pc:sldChg>
      <pc:sldChg chg="modSp mod">
        <pc:chgData name="Keerti Gurung" userId="e2354b7e34d2f498" providerId="LiveId" clId="{74221AE2-D3BD-48A1-94DB-7C5227503B72}" dt="2026-09-14T13:32:19.065" v="27" actId="20577"/>
        <pc:sldMkLst>
          <pc:docMk/>
          <pc:sldMk cId="4148257187" sldId="264"/>
        </pc:sldMkLst>
        <pc:spChg chg="mod">
          <ac:chgData name="Keerti Gurung" userId="e2354b7e34d2f498" providerId="LiveId" clId="{74221AE2-D3BD-48A1-94DB-7C5227503B72}" dt="2026-09-14T13:32:19.065" v="27" actId="20577"/>
          <ac:spMkLst>
            <pc:docMk/>
            <pc:sldMk cId="4148257187" sldId="264"/>
            <ac:spMk id="3" creationId="{1E4A1E70-DD60-4409-96E1-E39ACEB82B7A}"/>
          </ac:spMkLst>
        </pc:spChg>
      </pc:sldChg>
      <pc:sldChg chg="modSp del mod">
        <pc:chgData name="Keerti Gurung" userId="e2354b7e34d2f498" providerId="LiveId" clId="{74221AE2-D3BD-48A1-94DB-7C5227503B72}" dt="2026-09-14T15:40:26.428" v="246" actId="2696"/>
        <pc:sldMkLst>
          <pc:docMk/>
          <pc:sldMk cId="1458618565" sldId="265"/>
        </pc:sldMkLst>
        <pc:spChg chg="mod">
          <ac:chgData name="Keerti Gurung" userId="e2354b7e34d2f498" providerId="LiveId" clId="{74221AE2-D3BD-48A1-94DB-7C5227503B72}" dt="2026-09-14T15:32:31.644" v="168" actId="255"/>
          <ac:spMkLst>
            <pc:docMk/>
            <pc:sldMk cId="1458618565" sldId="265"/>
            <ac:spMk id="4" creationId="{1201DDD5-7ABE-4757-BDA6-13C4444A436C}"/>
          </ac:spMkLst>
        </pc:spChg>
      </pc:sldChg>
      <pc:sldChg chg="addSp delSp modSp new mod modClrScheme chgLayout">
        <pc:chgData name="Keerti Gurung" userId="e2354b7e34d2f498" providerId="LiveId" clId="{74221AE2-D3BD-48A1-94DB-7C5227503B72}" dt="2026-09-14T15:42:36.035" v="330" actId="14100"/>
        <pc:sldMkLst>
          <pc:docMk/>
          <pc:sldMk cId="4287970306" sldId="266"/>
        </pc:sldMkLst>
        <pc:spChg chg="del mod ord">
          <ac:chgData name="Keerti Gurung" userId="e2354b7e34d2f498" providerId="LiveId" clId="{74221AE2-D3BD-48A1-94DB-7C5227503B72}" dt="2026-09-14T15:37:52.764" v="176" actId="700"/>
          <ac:spMkLst>
            <pc:docMk/>
            <pc:sldMk cId="4287970306" sldId="266"/>
            <ac:spMk id="2" creationId="{566B0572-F858-489C-A708-CAE8462D2D54}"/>
          </ac:spMkLst>
        </pc:spChg>
        <pc:spChg chg="del mod ord">
          <ac:chgData name="Keerti Gurung" userId="e2354b7e34d2f498" providerId="LiveId" clId="{74221AE2-D3BD-48A1-94DB-7C5227503B72}" dt="2026-09-14T15:37:52.764" v="176" actId="700"/>
          <ac:spMkLst>
            <pc:docMk/>
            <pc:sldMk cId="4287970306" sldId="266"/>
            <ac:spMk id="3" creationId="{45FA860B-D201-430C-918F-9A7C8031E9D7}"/>
          </ac:spMkLst>
        </pc:spChg>
        <pc:spChg chg="add mod ord">
          <ac:chgData name="Keerti Gurung" userId="e2354b7e34d2f498" providerId="LiveId" clId="{74221AE2-D3BD-48A1-94DB-7C5227503B72}" dt="2026-09-14T15:42:36.035" v="330" actId="14100"/>
          <ac:spMkLst>
            <pc:docMk/>
            <pc:sldMk cId="4287970306" sldId="266"/>
            <ac:spMk id="4" creationId="{5722A86F-519C-4133-9374-534839FFB4C8}"/>
          </ac:spMkLst>
        </pc:spChg>
        <pc:spChg chg="add mod ord">
          <ac:chgData name="Keerti Gurung" userId="e2354b7e34d2f498" providerId="LiveId" clId="{74221AE2-D3BD-48A1-94DB-7C5227503B72}" dt="2026-09-14T15:39:32.394" v="243" actId="20577"/>
          <ac:spMkLst>
            <pc:docMk/>
            <pc:sldMk cId="4287970306" sldId="266"/>
            <ac:spMk id="5" creationId="{294C5A6B-DD6E-4640-862F-A55EA9A44D1C}"/>
          </ac:spMkLst>
        </pc:spChg>
      </pc:sldChg>
      <pc:sldChg chg="addSp delSp modSp new mod modClrScheme chgLayout">
        <pc:chgData name="Keerti Gurung" userId="e2354b7e34d2f498" providerId="LiveId" clId="{74221AE2-D3BD-48A1-94DB-7C5227503B72}" dt="2026-09-14T16:07:23.365" v="347"/>
        <pc:sldMkLst>
          <pc:docMk/>
          <pc:sldMk cId="2875593173" sldId="267"/>
        </pc:sldMkLst>
        <pc:spChg chg="del mod ord">
          <ac:chgData name="Keerti Gurung" userId="e2354b7e34d2f498" providerId="LiveId" clId="{74221AE2-D3BD-48A1-94DB-7C5227503B72}" dt="2026-09-14T15:40:32.494" v="248" actId="700"/>
          <ac:spMkLst>
            <pc:docMk/>
            <pc:sldMk cId="2875593173" sldId="267"/>
            <ac:spMk id="2" creationId="{B51D182D-81F6-4D30-8848-173C8BE98A28}"/>
          </ac:spMkLst>
        </pc:spChg>
        <pc:spChg chg="del mod ord">
          <ac:chgData name="Keerti Gurung" userId="e2354b7e34d2f498" providerId="LiveId" clId="{74221AE2-D3BD-48A1-94DB-7C5227503B72}" dt="2026-09-14T15:40:32.494" v="248" actId="700"/>
          <ac:spMkLst>
            <pc:docMk/>
            <pc:sldMk cId="2875593173" sldId="267"/>
            <ac:spMk id="3" creationId="{EA84AD37-2CC5-4C8F-87A5-7B76C466FA87}"/>
          </ac:spMkLst>
        </pc:spChg>
        <pc:spChg chg="add mod ord">
          <ac:chgData name="Keerti Gurung" userId="e2354b7e34d2f498" providerId="LiveId" clId="{74221AE2-D3BD-48A1-94DB-7C5227503B72}" dt="2026-09-14T15:42:15.519" v="328" actId="14100"/>
          <ac:spMkLst>
            <pc:docMk/>
            <pc:sldMk cId="2875593173" sldId="267"/>
            <ac:spMk id="4" creationId="{211116AF-72F0-4E4D-8747-E4C324B3A34D}"/>
          </ac:spMkLst>
        </pc:spChg>
        <pc:spChg chg="add mod ord">
          <ac:chgData name="Keerti Gurung" userId="e2354b7e34d2f498" providerId="LiveId" clId="{74221AE2-D3BD-48A1-94DB-7C5227503B72}" dt="2026-09-14T16:07:23.365" v="347"/>
          <ac:spMkLst>
            <pc:docMk/>
            <pc:sldMk cId="2875593173" sldId="267"/>
            <ac:spMk id="5" creationId="{83BD9DCA-AB5E-4522-A099-8D076D6EBB51}"/>
          </ac:spMkLst>
        </pc:spChg>
      </pc:sldChg>
      <pc:sldMasterChg chg="setBg modSldLayout">
        <pc:chgData name="Keerti Gurung" userId="e2354b7e34d2f498" providerId="LiveId" clId="{74221AE2-D3BD-48A1-94DB-7C5227503B72}" dt="2026-09-14T15:22:28.720" v="90"/>
        <pc:sldMasterMkLst>
          <pc:docMk/>
          <pc:sldMasterMk cId="470057838" sldId="2147483672"/>
        </pc:sldMasterMkLst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4024727102" sldId="2147483673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3926669706" sldId="2147483674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1687386895" sldId="2147483675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4163973537" sldId="2147483676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1215062137" sldId="2147483677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1630754177" sldId="2147483678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2559764531" sldId="2147483679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2345306388" sldId="2147483680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184626284" sldId="2147483681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1892971664" sldId="2147483682"/>
          </pc:sldLayoutMkLst>
        </pc:sldLayoutChg>
        <pc:sldLayoutChg chg="setBg">
          <pc:chgData name="Keerti Gurung" userId="e2354b7e34d2f498" providerId="LiveId" clId="{74221AE2-D3BD-48A1-94DB-7C5227503B72}" dt="2026-09-14T15:22:28.720" v="90"/>
          <pc:sldLayoutMkLst>
            <pc:docMk/>
            <pc:sldMasterMk cId="470057838" sldId="2147483672"/>
            <pc:sldLayoutMk cId="2989362920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727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38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97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062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754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76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30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2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7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A8D1-E076-4E02-ADE7-50EB854280E7}" type="datetimeFigureOut">
              <a:rPr lang="en-GB" smtClean="0"/>
              <a:t>14/09/2026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3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7A8D1-E076-4E02-ADE7-50EB854280E7}" type="datetimeFigureOut">
              <a:rPr lang="en-GB" smtClean="0"/>
              <a:t>14/09/2026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F5191-BE30-4A02-9534-CC553AEDD8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05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keerti.gurung.dat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keerti.gurung.data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22A86F-519C-4133-9374-534839FFB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97821"/>
            <a:ext cx="9144000" cy="1655762"/>
          </a:xfrm>
        </p:spPr>
        <p:txBody>
          <a:bodyPr>
            <a:normAutofit/>
          </a:bodyPr>
          <a:lstStyle/>
          <a:p>
            <a:r>
              <a:rPr lang="en-GB" sz="4000" b="1" dirty="0"/>
              <a:t>RFM Customer Retention Strategy</a:t>
            </a:r>
            <a:endParaRPr lang="en-GB" sz="4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94C5A6B-DD6E-4640-862F-A55EA9A44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Keerti Gurung</a:t>
            </a:r>
          </a:p>
          <a:p>
            <a:r>
              <a:rPr lang="en-GB" sz="2000" dirty="0">
                <a:hlinkClick r:id="rId2"/>
              </a:rPr>
              <a:t>keerti.gurung.data@gmail.com</a:t>
            </a:r>
            <a:endParaRPr lang="en-GB" sz="2000" dirty="0"/>
          </a:p>
          <a:p>
            <a:r>
              <a:rPr lang="en-GB" sz="2000" dirty="0"/>
              <a:t>2026-09-14</a:t>
            </a:r>
          </a:p>
        </p:txBody>
      </p:sp>
    </p:spTree>
    <p:extLst>
      <p:ext uri="{BB962C8B-B14F-4D97-AF65-F5344CB8AC3E}">
        <p14:creationId xmlns:p14="http://schemas.microsoft.com/office/powerpoint/2010/main" val="428797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BB6E2-5E37-415D-9650-7AF75A85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Business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23335-B1FE-45AC-8402-70F77FABD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This project answers two questions:</a:t>
            </a:r>
          </a:p>
          <a:p>
            <a:pPr marL="514338" indent="-514338">
              <a:buFont typeface="+mj-lt"/>
              <a:buAutoNum type="arabicPeriod"/>
            </a:pPr>
            <a:r>
              <a:rPr lang="en-GB" sz="2000" dirty="0"/>
              <a:t>Which customer segments drive the most revenue?</a:t>
            </a:r>
          </a:p>
          <a:p>
            <a:pPr marL="514338" indent="-514338">
              <a:buFont typeface="+mj-lt"/>
              <a:buAutoNum type="arabicPeriod"/>
            </a:pPr>
            <a:r>
              <a:rPr lang="en-GB" sz="2000" dirty="0"/>
              <a:t>Which segments carry the highest churn risk (90+ days without a purchase)?</a:t>
            </a:r>
          </a:p>
        </p:txBody>
      </p:sp>
    </p:spTree>
    <p:extLst>
      <p:ext uri="{BB962C8B-B14F-4D97-AF65-F5344CB8AC3E}">
        <p14:creationId xmlns:p14="http://schemas.microsoft.com/office/powerpoint/2010/main" val="396019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7E174-ACCF-4FC4-B0C6-8A6A7739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Data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BFFDC-D80E-4CDC-8D3F-420BD550B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Dataset:</a:t>
            </a:r>
          </a:p>
          <a:p>
            <a:r>
              <a:rPr lang="en-GB" sz="2000" dirty="0"/>
              <a:t>UK Online Retail (UCI Repository)</a:t>
            </a:r>
          </a:p>
          <a:p>
            <a:r>
              <a:rPr lang="en-GB" sz="2000" dirty="0"/>
              <a:t>541,909 transactions → 4,338 customers after cleaning</a:t>
            </a:r>
          </a:p>
          <a:p>
            <a:r>
              <a:rPr lang="en-GB" sz="2000" dirty="0"/>
              <a:t>Period: Dec 2010 – Dec 2011</a:t>
            </a:r>
          </a:p>
          <a:p>
            <a:r>
              <a:rPr lang="en-GB" sz="2000" dirty="0"/>
              <a:t>Tools Used: SQL | Python (Pandas, Matplotlib) | Power BI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Method:</a:t>
            </a:r>
          </a:p>
          <a:p>
            <a:r>
              <a:rPr lang="en-GB" sz="2000" dirty="0"/>
              <a:t>RFM quintile scoring (1-5) on Recency, Frequency, Monetary</a:t>
            </a:r>
          </a:p>
          <a:p>
            <a:r>
              <a:rPr lang="en-GB" sz="2000" dirty="0"/>
              <a:t>7 segments via priority-ordered decision tree</a:t>
            </a:r>
          </a:p>
          <a:p>
            <a:r>
              <a:rPr lang="en-GB" sz="2000" dirty="0"/>
              <a:t>Churn threshold: 90+ days without a purchase</a:t>
            </a:r>
          </a:p>
        </p:txBody>
      </p:sp>
    </p:spTree>
    <p:extLst>
      <p:ext uri="{BB962C8B-B14F-4D97-AF65-F5344CB8AC3E}">
        <p14:creationId xmlns:p14="http://schemas.microsoft.com/office/powerpoint/2010/main" val="1792977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A2D7-4635-4BC1-B10F-2D7D33D85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365" y="317693"/>
            <a:ext cx="7886700" cy="1325563"/>
          </a:xfrm>
        </p:spPr>
        <p:txBody>
          <a:bodyPr>
            <a:normAutofit/>
          </a:bodyPr>
          <a:lstStyle/>
          <a:p>
            <a:r>
              <a:rPr lang="en-GB" sz="3200" b="1" dirty="0"/>
              <a:t>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985CE-5FB7-4058-96AF-2D749EF85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599" y="1741084"/>
            <a:ext cx="1007364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GB" sz="2200" dirty="0"/>
              <a:t>Hierarchy: Recency → Frequency → Monetary</a:t>
            </a:r>
          </a:p>
          <a:p>
            <a:r>
              <a:rPr lang="en-GB" sz="2200" dirty="0"/>
              <a:t>First match wins. Default = Low Priority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B4C390-9CD8-436E-9446-8337133CD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732285"/>
              </p:ext>
            </p:extLst>
          </p:nvPr>
        </p:nvGraphicFramePr>
        <p:xfrm>
          <a:off x="1303020" y="1741084"/>
          <a:ext cx="7863045" cy="3169920"/>
        </p:xfrm>
        <a:graphic>
          <a:graphicData uri="http://schemas.openxmlformats.org/drawingml/2006/table">
            <a:tbl>
              <a:tblPr/>
              <a:tblGrid>
                <a:gridCol w="2621015">
                  <a:extLst>
                    <a:ext uri="{9D8B030D-6E8A-4147-A177-3AD203B41FA5}">
                      <a16:colId xmlns:a16="http://schemas.microsoft.com/office/drawing/2014/main" val="7797815"/>
                    </a:ext>
                  </a:extLst>
                </a:gridCol>
                <a:gridCol w="2621015">
                  <a:extLst>
                    <a:ext uri="{9D8B030D-6E8A-4147-A177-3AD203B41FA5}">
                      <a16:colId xmlns:a16="http://schemas.microsoft.com/office/drawing/2014/main" val="1536195230"/>
                    </a:ext>
                  </a:extLst>
                </a:gridCol>
                <a:gridCol w="2621015">
                  <a:extLst>
                    <a:ext uri="{9D8B030D-6E8A-4147-A177-3AD203B41FA5}">
                      <a16:colId xmlns:a16="http://schemas.microsoft.com/office/drawing/2014/main" val="4138534757"/>
                    </a:ext>
                  </a:extLst>
                </a:gridCol>
              </a:tblGrid>
              <a:tr h="393848">
                <a:tc>
                  <a:txBody>
                    <a:bodyPr/>
                    <a:lstStyle/>
                    <a:p>
                      <a:r>
                        <a:rPr lang="en-GB" sz="2000" b="1" dirty="0"/>
                        <a:t>Segment</a:t>
                      </a:r>
                      <a:endParaRPr lang="en-GB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Customers</a:t>
                      </a:r>
                      <a:endParaRPr lang="en-GB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/>
                        <a:t>Criteria</a:t>
                      </a:r>
                      <a:endParaRPr lang="en-GB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566408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 dirty="0"/>
                        <a:t>Champions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947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R≥4, F≥4, M≥4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104808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 dirty="0"/>
                        <a:t>Loyal 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454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R≥3, F≥4, M≥3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957104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 dirty="0"/>
                        <a:t>Potential Loyalists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190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R≥4, F=3, M≥3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2476655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/>
                        <a:t>Can't Lose Them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173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R≤2, F≥4, M≥4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781767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/>
                        <a:t>At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207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R=2, F≥3, M≥3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376683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 dirty="0"/>
                        <a:t>Hibernating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R≤2, M≥4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124498"/>
                  </a:ext>
                </a:extLst>
              </a:tr>
              <a:tr h="393848">
                <a:tc>
                  <a:txBody>
                    <a:bodyPr/>
                    <a:lstStyle/>
                    <a:p>
                      <a:r>
                        <a:rPr lang="en-GB" sz="2000" dirty="0"/>
                        <a:t>Low 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/>
                        <a:t>2,261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All remaining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233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41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1004D7-2240-4CA0-90D3-2CD660CD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376" y="773996"/>
            <a:ext cx="3932237" cy="582613"/>
          </a:xfrm>
        </p:spPr>
        <p:txBody>
          <a:bodyPr>
            <a:normAutofit/>
          </a:bodyPr>
          <a:lstStyle/>
          <a:p>
            <a:r>
              <a:rPr lang="en-GB" sz="3200" b="1" dirty="0"/>
              <a:t>Revenue by Segment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12F88E-F6A3-4DA8-BB06-6B69610E7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5376" y="1901024"/>
            <a:ext cx="3712547" cy="194432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Champions + Loyal Customers = 74.9% of revenue from 32.3% of 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Low Priority = 52.1% of customers, only 10.4% of revenue</a:t>
            </a:r>
          </a:p>
          <a:p>
            <a:endParaRPr lang="en-GB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7FD5EAE7-07DC-4B67-8587-9FCDD0003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1280159"/>
            <a:ext cx="6583363" cy="4697853"/>
          </a:xfrm>
        </p:spPr>
      </p:pic>
    </p:spTree>
    <p:extLst>
      <p:ext uri="{BB962C8B-B14F-4D97-AF65-F5344CB8AC3E}">
        <p14:creationId xmlns:p14="http://schemas.microsoft.com/office/powerpoint/2010/main" val="98048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8769-CF44-4832-8B2F-8BCD72F4B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29525"/>
            <a:ext cx="3932237" cy="871533"/>
          </a:xfrm>
        </p:spPr>
        <p:txBody>
          <a:bodyPr/>
          <a:lstStyle/>
          <a:p>
            <a:r>
              <a:rPr lang="en-GB" b="1" dirty="0"/>
              <a:t>Churn rate by Segment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B8040E-EF8A-47C0-AD9E-F54F47DF67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208" y="1275393"/>
            <a:ext cx="5756159" cy="4604297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1DE08-47BD-4A66-A4D4-9FEE69B45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7252" y="1874222"/>
            <a:ext cx="3932237" cy="220881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£1,035,269 total revenue at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Can't Lose Them: 93% churn, £398K lost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At Risk: 68% churn, £241K at risk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Hibernating: 100% churn, £129K lost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18188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FAB48C-69B9-4DA2-95D5-0A5A72EC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Key Findings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57CD8D-02DE-4559-9F66-20065871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32.3% of customers drive 74.9% of revenue</a:t>
            </a:r>
          </a:p>
          <a:p>
            <a:r>
              <a:rPr lang="en-US" sz="2000" dirty="0"/>
              <a:t>£1.04M in revenue at risk across all segments</a:t>
            </a:r>
          </a:p>
          <a:p>
            <a:r>
              <a:rPr lang="en-US" sz="2000" dirty="0"/>
              <a:t>Can't Lose Them = highest urgency (173 customers, £398K)</a:t>
            </a:r>
          </a:p>
          <a:p>
            <a:r>
              <a:rPr lang="en-US" sz="2000" dirty="0"/>
              <a:t>At Risk = most recoverable (207 customers, £241K)</a:t>
            </a:r>
          </a:p>
          <a:p>
            <a:r>
              <a:rPr lang="en-US" sz="2000" dirty="0"/>
              <a:t>52.1% of base is Low Priority → focus spend on top 48%</a:t>
            </a:r>
          </a:p>
          <a:p>
            <a:r>
              <a:rPr lang="en-US" sz="2000" dirty="0"/>
              <a:t>Oct–Nov seasonal spike inflates churn counts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8267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A6D5-69DC-455E-85D6-0B555910E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Recommendations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756AFF-E51B-489A-AEC8-A7918090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Champions - Loyalty tier / early access </a:t>
            </a:r>
          </a:p>
          <a:p>
            <a:r>
              <a:rPr lang="en-GB" sz="2000" dirty="0"/>
              <a:t>Loyal Customers - Cross-sell complementary categories </a:t>
            </a:r>
          </a:p>
          <a:p>
            <a:r>
              <a:rPr lang="en-GB" sz="2000" dirty="0"/>
              <a:t>Potential Loyalists - Bundle offer to increase purchase frequency </a:t>
            </a:r>
          </a:p>
          <a:p>
            <a:r>
              <a:rPr lang="en-GB" sz="2000" dirty="0"/>
              <a:t>Can't Lose Them - Personalised win-back with exclusive time-limited offer </a:t>
            </a:r>
          </a:p>
          <a:p>
            <a:r>
              <a:rPr lang="en-GB" sz="2000" dirty="0"/>
              <a:t>At Risk - Automated day-60 "we miss you" nudge </a:t>
            </a:r>
          </a:p>
          <a:p>
            <a:r>
              <a:rPr lang="en-GB" sz="2000" dirty="0"/>
              <a:t>Hibernating - Low-cost email with high-value product recommendation </a:t>
            </a:r>
          </a:p>
          <a:p>
            <a:r>
              <a:rPr lang="en-GB" sz="2000" dirty="0"/>
              <a:t> Low Priority - Suppress from campaigns 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941270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8748B-2215-4BAD-B456-54EF678A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A1E70-DD60-4409-96E1-E39ACEB82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90-day threshold is a business assumption, not data-driven</a:t>
            </a:r>
          </a:p>
          <a:p>
            <a:r>
              <a:rPr lang="en-US" sz="2000" dirty="0"/>
              <a:t>No external factors (marketing spend, economic conditions) considered</a:t>
            </a:r>
          </a:p>
          <a:p>
            <a:r>
              <a:rPr lang="en-US" sz="2000" dirty="0"/>
              <a:t>Segment boundaries are rule-based; adjacent quintiles may produce similar profiles</a:t>
            </a:r>
          </a:p>
          <a:p>
            <a:r>
              <a:rPr lang="en-US" sz="2000"/>
              <a:t>Data only covers 12-month </a:t>
            </a:r>
            <a:r>
              <a:rPr lang="en-US" sz="2000" dirty="0"/>
              <a:t>period; Oct–Nov spike may misclassify seasonal buyers as churned.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4825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1116AF-72F0-4E4D-8747-E4C324B3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61811"/>
          </a:xfrm>
        </p:spPr>
        <p:txBody>
          <a:bodyPr>
            <a:normAutofit/>
          </a:bodyPr>
          <a:lstStyle/>
          <a:p>
            <a:r>
              <a:rPr lang="en-GB" sz="4000" b="1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3BD9DCA-AB5E-4522-A099-8D076D6EB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Keerti Gurung</a:t>
            </a:r>
          </a:p>
          <a:p>
            <a:r>
              <a:rPr lang="en-GB" dirty="0">
                <a:hlinkClick r:id="rId2"/>
              </a:rPr>
              <a:t>keerti.gurung.data@gmail.com</a:t>
            </a:r>
            <a:endParaRPr lang="en-GB" dirty="0"/>
          </a:p>
          <a:p>
            <a:r>
              <a:rPr lang="en-GB" dirty="0"/>
              <a:t>github.com/</a:t>
            </a:r>
            <a:r>
              <a:rPr lang="en-GB" dirty="0" err="1"/>
              <a:t>keertigurung</a:t>
            </a:r>
            <a:r>
              <a:rPr lang="en-GB" dirty="0"/>
              <a:t>/</a:t>
            </a:r>
            <a:r>
              <a:rPr lang="en-GB" dirty="0" err="1"/>
              <a:t>rfm</a:t>
            </a:r>
            <a:r>
              <a:rPr lang="en-GB" dirty="0"/>
              <a:t>-customer-retention-strategy</a:t>
            </a:r>
          </a:p>
        </p:txBody>
      </p:sp>
    </p:spTree>
    <p:extLst>
      <p:ext uri="{BB962C8B-B14F-4D97-AF65-F5344CB8AC3E}">
        <p14:creationId xmlns:p14="http://schemas.microsoft.com/office/powerpoint/2010/main" val="287559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193</TotalTime>
  <Words>485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RFM Customer Retention Strategy</vt:lpstr>
      <vt:lpstr>Business Questions</vt:lpstr>
      <vt:lpstr>Data &amp; Methodology</vt:lpstr>
      <vt:lpstr>Segmentation</vt:lpstr>
      <vt:lpstr>Revenue by Segment</vt:lpstr>
      <vt:lpstr>Churn rate by Segment</vt:lpstr>
      <vt:lpstr>Key Findings</vt:lpstr>
      <vt:lpstr>Recommendations </vt:lpstr>
      <vt:lpstr>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RFM Customer Retention Strategy</dc:title>
  <dc:creator>Keerti Gurung</dc:creator>
  <cp:lastModifiedBy>Keerti Gurung</cp:lastModifiedBy>
  <cp:revision>4</cp:revision>
  <dcterms:created xsi:type="dcterms:W3CDTF">2026-09-14T11:12:34Z</dcterms:created>
  <dcterms:modified xsi:type="dcterms:W3CDTF">2026-09-14T16:07:44Z</dcterms:modified>
</cp:coreProperties>
</file>